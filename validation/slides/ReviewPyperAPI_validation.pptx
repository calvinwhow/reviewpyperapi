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PILOT VALIDATION ·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A1A1F"/>
                </a:solidFill>
                <a:latin typeface="Cambria"/>
              </a:rPr>
              <a:t>Validation of ReviewPyperAPI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1A1A1F"/>
                </a:solidFill>
                <a:latin typeface="Cambria"/>
              </a:rPr>
              <a:t>AI title-screening against the CLEF-TAR Cochrane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1A1F"/>
                </a:solidFill>
                <a:latin typeface="Calibri"/>
              </a:rPr>
              <a:t>Niels Pacheco-Barrios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D7975"/>
                </a:solidFill>
                <a:latin typeface="Calibri"/>
              </a:rPr>
              <a:t>Rolston Lab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035040"/>
            <a:ext cx="6400800" cy="9525"/>
          </a:xfrm>
          <a:prstGeom prst="rect">
            <a:avLst/>
          </a:prstGeom>
          <a:solidFill>
            <a:srgbClr val="7D7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The systematic-review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800" b="1">
                <a:solidFill>
                  <a:srgbClr val="1F6D76"/>
                </a:solidFill>
                <a:latin typeface="Calibri"/>
              </a:rPr>
              <a:t>• </a:t>
            </a:r>
            <a:r>
              <a:rPr sz="1800">
                <a:solidFill>
                  <a:srgbClr val="1A1A1F"/>
                </a:solidFill>
                <a:latin typeface="Calibri"/>
              </a:rPr>
              <a:t>A typical systematic review screens 2,000–10,000 abstracts.</a:t>
            </a:r>
          </a:p>
          <a:p>
            <a:pPr>
              <a:lnSpc>
                <a:spcPct val="125000"/>
              </a:lnSpc>
            </a:pPr>
            <a:r>
              <a:rPr sz="1800" b="1">
                <a:solidFill>
                  <a:srgbClr val="1F6D76"/>
                </a:solidFill>
                <a:latin typeface="Calibri"/>
              </a:rPr>
              <a:t>• </a:t>
            </a:r>
            <a:r>
              <a:rPr sz="1800">
                <a:solidFill>
                  <a:srgbClr val="1A1A1F"/>
                </a:solidFill>
                <a:latin typeface="Calibri"/>
              </a:rPr>
              <a:t>Two human reviewers per abstract → 200–600 hours of expert time.</a:t>
            </a:r>
          </a:p>
          <a:p>
            <a:pPr>
              <a:lnSpc>
                <a:spcPct val="125000"/>
              </a:lnSpc>
            </a:pPr>
            <a:r>
              <a:rPr sz="1800" b="1">
                <a:solidFill>
                  <a:srgbClr val="1F6D76"/>
                </a:solidFill>
                <a:latin typeface="Calibri"/>
              </a:rPr>
              <a:t>• </a:t>
            </a:r>
            <a:r>
              <a:rPr sz="1800">
                <a:solidFill>
                  <a:srgbClr val="1A1A1F"/>
                </a:solidFill>
                <a:latin typeface="Calibri"/>
              </a:rPr>
              <a:t>AI screeners have promised relief for a decade. But:</a:t>
            </a:r>
          </a:p>
          <a:p>
            <a:pPr>
              <a:lnSpc>
                <a:spcPct val="125000"/>
              </a:lnSpc>
            </a:pPr>
            <a:r>
              <a:rPr sz="1800" b="1">
                <a:solidFill>
                  <a:srgbClr val="1F6D76"/>
                </a:solidFill>
                <a:latin typeface="Calibri"/>
              </a:rPr>
              <a:t>• </a:t>
            </a:r>
            <a:r>
              <a:rPr sz="1800">
                <a:solidFill>
                  <a:srgbClr val="1A1A1F"/>
                </a:solidFill>
                <a:latin typeface="Calibri"/>
              </a:rPr>
              <a:t>    Reproducibility is poor — most tools published once, never re-run.</a:t>
            </a:r>
          </a:p>
          <a:p>
            <a:pPr>
              <a:lnSpc>
                <a:spcPct val="125000"/>
              </a:lnSpc>
            </a:pPr>
            <a:r>
              <a:rPr sz="1800" b="1">
                <a:solidFill>
                  <a:srgbClr val="1F6D76"/>
                </a:solidFill>
                <a:latin typeface="Calibri"/>
              </a:rPr>
              <a:t>• </a:t>
            </a:r>
            <a:r>
              <a:rPr sz="1800">
                <a:solidFill>
                  <a:srgbClr val="1A1A1F"/>
                </a:solidFill>
                <a:latin typeface="Calibri"/>
              </a:rPr>
              <a:t>    Public benchmarks (CLEF-TAR, Cohen 2006) are rarely used.</a:t>
            </a:r>
          </a:p>
          <a:p>
            <a:pPr>
              <a:lnSpc>
                <a:spcPct val="125000"/>
              </a:lnSpc>
            </a:pPr>
            <a:r>
              <a:rPr sz="1800" b="1">
                <a:solidFill>
                  <a:srgbClr val="1F6D76"/>
                </a:solidFill>
                <a:latin typeface="Calibri"/>
              </a:rPr>
              <a:t>• </a:t>
            </a:r>
            <a:r>
              <a:rPr sz="1800">
                <a:solidFill>
                  <a:srgbClr val="1A1A1F"/>
                </a:solidFill>
                <a:latin typeface="Calibri"/>
              </a:rPr>
              <a:t>    Our own tool, ReviewPyperAPI, had never been validated externally.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29200"/>
            <a:ext cx="10058400" cy="1280160"/>
          </a:xfrm>
          <a:prstGeom prst="rect">
            <a:avLst/>
          </a:prstGeom>
          <a:solidFill>
            <a:srgbClr val="CFE1E3"/>
          </a:solidFill>
          <a:ln w="9525">
            <a:solidFill>
              <a:srgbClr val="1F6D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1937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D76"/>
                </a:solidFill>
                <a:latin typeface="Cambria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Is ReviewPyperAPI accurate enough to use in a real Cochrane review?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The benchmark: CLEF-TAR 2017–2019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F6D76"/>
                </a:solidFill>
                <a:latin typeface="Calibri"/>
              </a:rPr>
              <a:t>• </a:t>
            </a:r>
            <a:r>
              <a:rPr sz="1600">
                <a:solidFill>
                  <a:srgbClr val="1A1A1F"/>
                </a:solidFill>
                <a:latin typeface="Calibri"/>
              </a:rPr>
              <a:t>CLEF eHealth Technology-Assisted Reviews</a:t>
            </a:r>
          </a:p>
          <a:p>
            <a:pPr>
              <a:lnSpc>
                <a:spcPct val="125000"/>
              </a:lnSpc>
            </a:pPr>
            <a:r>
              <a:rPr sz="1600" b="1">
                <a:solidFill>
                  <a:srgbClr val="1F6D76"/>
                </a:solidFill>
                <a:latin typeface="Calibri"/>
              </a:rPr>
              <a:t>• </a:t>
            </a:r>
            <a:r>
              <a:rPr sz="1600">
                <a:solidFill>
                  <a:srgbClr val="1A1A1F"/>
                </a:solidFill>
                <a:latin typeface="Calibri"/>
              </a:rPr>
              <a:t>Native Cochrane reviews with full inclusion labels</a:t>
            </a:r>
          </a:p>
          <a:p>
            <a:pPr>
              <a:lnSpc>
                <a:spcPct val="125000"/>
              </a:lnSpc>
            </a:pPr>
            <a:r>
              <a:rPr sz="1600" b="1">
                <a:solidFill>
                  <a:srgbClr val="1F6D76"/>
                </a:solidFill>
                <a:latin typeface="Calibri"/>
              </a:rPr>
              <a:t>• </a:t>
            </a:r>
            <a:r>
              <a:rPr sz="1600">
                <a:solidFill>
                  <a:srgbClr val="1A1A1F"/>
                </a:solidFill>
                <a:latin typeface="Calibri"/>
              </a:rPr>
              <a:t>246 topics, 129 unique reviews</a:t>
            </a:r>
          </a:p>
          <a:p>
            <a:pPr>
              <a:lnSpc>
                <a:spcPct val="125000"/>
              </a:lnSpc>
            </a:pPr>
            <a:r>
              <a:rPr sz="1600" b="1">
                <a:solidFill>
                  <a:srgbClr val="1F6D76"/>
                </a:solidFill>
                <a:latin typeface="Calibri"/>
              </a:rPr>
              <a:t>• </a:t>
            </a:r>
            <a:r>
              <a:rPr sz="1600">
                <a:solidFill>
                  <a:srgbClr val="1A1A1F"/>
                </a:solidFill>
                <a:latin typeface="Calibri"/>
              </a:rPr>
              <a:t>Industry-standard for AI screening evaluation</a:t>
            </a:r>
          </a:p>
          <a:p>
            <a:pPr>
              <a:lnSpc>
                <a:spcPct val="125000"/>
              </a:lnSpc>
            </a:pPr>
            <a:r>
              <a:rPr sz="1600" b="1">
                <a:solidFill>
                  <a:srgbClr val="1F6D76"/>
                </a:solidFill>
                <a:latin typeface="Calibri"/>
              </a:rPr>
              <a:t>• </a:t>
            </a:r>
            <a:r>
              <a:rPr sz="1600">
                <a:solidFill>
                  <a:srgbClr val="1A1A1F"/>
                </a:solidFill>
                <a:latin typeface="Calibri"/>
              </a:rPr>
              <a:t>Used by Sheffield, Waterloo, BERT, EmbeddingMd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F"/>
                </a:solidFill>
                <a:latin typeface="Cambria"/>
              </a:rPr>
              <a:t>Today's pilot: CD010355 (2019, Intervention)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6D76"/>
                </a:solidFill>
                <a:latin typeface="Calibri"/>
              </a:rPr>
              <a:t>• </a:t>
            </a:r>
            <a:r>
              <a:rPr sz="1400">
                <a:solidFill>
                  <a:srgbClr val="1A1A1F"/>
                </a:solidFill>
                <a:latin typeface="Calibri"/>
              </a:rPr>
              <a:t>NIPPV for post-pulmonary-resection complications.</a:t>
            </a:r>
          </a:p>
          <a:p>
            <a:pPr>
              <a:lnSpc>
                <a:spcPct val="125000"/>
              </a:lnSpc>
            </a:pPr>
            <a:r>
              <a:rPr sz="1400" b="1">
                <a:solidFill>
                  <a:srgbClr val="1F6D76"/>
                </a:solidFill>
                <a:latin typeface="Calibri"/>
              </a:rPr>
              <a:t>• </a:t>
            </a:r>
            <a:r>
              <a:rPr sz="1400">
                <a:solidFill>
                  <a:srgbClr val="1A1A1F"/>
                </a:solidFill>
                <a:latin typeface="Calibri"/>
              </a:rPr>
              <a:t>43 papers screened, 9 included by Cochrane.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920240"/>
            <a:ext cx="4297680" cy="2743200"/>
          </a:xfrm>
          <a:prstGeom prst="rect">
            <a:avLst/>
          </a:prstGeom>
          <a:solidFill>
            <a:srgbClr val="CFE1E3"/>
          </a:solidFill>
          <a:ln w="9525">
            <a:solidFill>
              <a:srgbClr val="1F6D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848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D76"/>
                </a:solidFill>
                <a:latin typeface="Cambria"/>
              </a:rPr>
              <a:t>Known SOTA on CLEF-TAR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514600"/>
            <a:ext cx="38404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Sheffield 2018:  WSS@95 ≈ 0.30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Waterloo CAL:     recall ≈ 0.95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BERT rankers:     WSS@95 0.20–0.40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(per CLEF 2019 overview)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3 /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Validation pipeline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4776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3492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1F6D76"/>
                </a:solidFill>
                <a:latin typeface="Calibri"/>
              </a:rPr>
              <a:t>• </a:t>
            </a:r>
            <a:r>
              <a:rPr sz="1300">
                <a:solidFill>
                  <a:srgbClr val="1A1A1F"/>
                </a:solidFill>
                <a:latin typeface="Calibri"/>
              </a:rPr>
              <a:t>prep fetches every PMID's title + abstract from PubMed E-utilities.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1F6D76"/>
                </a:solidFill>
                <a:latin typeface="Calibri"/>
              </a:rPr>
              <a:t>• </a:t>
            </a:r>
            <a:r>
              <a:rPr sz="1300">
                <a:solidFill>
                  <a:srgbClr val="1A1A1F"/>
                </a:solidFill>
                <a:latin typeface="Calibri"/>
              </a:rPr>
              <a:t>Built CSV is uploaded to a running ReviewPyperAPI instance (Docker, frontend on localhost:3000).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1F6D76"/>
                </a:solidFill>
                <a:latin typeface="Calibri"/>
              </a:rPr>
              <a:t>• </a:t>
            </a:r>
            <a:r>
              <a:rPr sz="1300">
                <a:solidFill>
                  <a:srgbClr val="1A1A1F"/>
                </a:solidFill>
                <a:latin typeface="Calibri"/>
              </a:rPr>
              <a:t>Title screener runs against the live OpenAI API.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1F6D76"/>
                </a:solidFill>
                <a:latin typeface="Calibri"/>
              </a:rPr>
              <a:t>• </a:t>
            </a:r>
            <a:r>
              <a:rPr sz="1300">
                <a:solidFill>
                  <a:srgbClr val="1A1A1F"/>
                </a:solidFill>
                <a:latin typeface="Calibri"/>
              </a:rPr>
              <a:t>score compares predictions to gold qrels — recall, precision, F1, WSS@95.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4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Pilot topic: CD010355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solidFill>
            <a:srgbClr val="CFE1E3"/>
          </a:solidFill>
          <a:ln w="9525">
            <a:solidFill>
              <a:srgbClr val="1F6D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D76"/>
                </a:solidFill>
                <a:latin typeface="Cambria"/>
              </a:rPr>
              <a:t>Cochrane review (2019, Intervention training set)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Non-invasive positive pressure ventilation for prevention of complications after pulmonary resection in lung cancer patients.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F6D76"/>
                </a:solidFill>
                <a:latin typeface="Calibri"/>
              </a:rPr>
              <a:t>• </a:t>
            </a:r>
            <a:r>
              <a:rPr sz="1600">
                <a:solidFill>
                  <a:srgbClr val="1A1A1F"/>
                </a:solidFill>
                <a:latin typeface="Calibri"/>
              </a:rPr>
              <a:t>43 candidate papers (after PubMed lookup of qrels-listed PMIDs).</a:t>
            </a:r>
          </a:p>
          <a:p>
            <a:pPr>
              <a:lnSpc>
                <a:spcPct val="125000"/>
              </a:lnSpc>
            </a:pPr>
            <a:r>
              <a:rPr sz="1600" b="1">
                <a:solidFill>
                  <a:srgbClr val="1F6D76"/>
                </a:solidFill>
                <a:latin typeface="Calibri"/>
              </a:rPr>
              <a:t>• </a:t>
            </a:r>
            <a:r>
              <a:rPr sz="1600">
                <a:solidFill>
                  <a:srgbClr val="1A1A1F"/>
                </a:solidFill>
                <a:latin typeface="Calibri"/>
              </a:rPr>
              <a:t>9 gold-included (21%)  ·  34 gold-excluded (79%).</a:t>
            </a:r>
          </a:p>
          <a:p>
            <a:pPr>
              <a:lnSpc>
                <a:spcPct val="125000"/>
              </a:lnSpc>
            </a:pPr>
            <a:r>
              <a:rPr sz="1600" b="1">
                <a:solidFill>
                  <a:srgbClr val="1F6D76"/>
                </a:solidFill>
                <a:latin typeface="Calibri"/>
              </a:rPr>
              <a:t>• </a:t>
            </a:r>
            <a:r>
              <a:rPr sz="1600">
                <a:solidFill>
                  <a:srgbClr val="1A1A1F"/>
                </a:solidFill>
                <a:latin typeface="Calibri"/>
              </a:rPr>
              <a:t>Years: 1978–2018  ·  mostly anesthesia / thoracic surgery journals.</a:t>
            </a:r>
          </a:p>
          <a:p>
            <a:pPr>
              <a:lnSpc>
                <a:spcPct val="125000"/>
              </a:lnSpc>
            </a:pPr>
            <a:r>
              <a:rPr sz="1600" b="1">
                <a:solidFill>
                  <a:srgbClr val="1F6D76"/>
                </a:solidFill>
                <a:latin typeface="Calibri"/>
              </a:rPr>
              <a:t>• </a:t>
            </a:r>
            <a:r>
              <a:rPr sz="1600">
                <a:solidFill>
                  <a:srgbClr val="1A1A1F"/>
                </a:solidFill>
                <a:latin typeface="Calibri"/>
              </a:rPr>
              <a:t>Research question fed to the screener: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532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A1A1F"/>
                </a:solidFill>
                <a:latin typeface="Cambria"/>
              </a:rPr>
              <a:t>“What is the effectiveness of NIPPV for prevention of pulmonary complications after pulmonary resection in patients with lung cancer?”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5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Two models, one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F"/>
                </a:solidFill>
                <a:latin typeface="Cambria"/>
              </a:rPr>
              <a:t>ReviewPyper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011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F"/>
                </a:solidFill>
                <a:latin typeface="Cambria"/>
              </a:rPr>
              <a:t>OpenAI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011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F"/>
                </a:solidFill>
                <a:latin typeface="Cambria"/>
              </a:rPr>
              <a:t>$ / 1k tokens (input)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14600"/>
            <a:ext cx="9601200" cy="9525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1A1F"/>
                </a:solidFill>
                <a:latin typeface="Calibri"/>
              </a:rPr>
              <a:t>gpt3_small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517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1A1F"/>
                </a:solidFill>
                <a:latin typeface="Calibri"/>
              </a:rPr>
              <a:t>gpt-3.5-turbo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517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1A1F"/>
                </a:solidFill>
                <a:latin typeface="Calibri"/>
              </a:rPr>
              <a:t>$0.0015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1A1F"/>
                </a:solidFill>
                <a:latin typeface="Calibri"/>
              </a:rPr>
              <a:t>gpt4.1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154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1A1F"/>
                </a:solidFill>
                <a:latin typeface="Calibri"/>
              </a:rPr>
              <a:t>gpt-4.1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154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1A1F"/>
                </a:solidFill>
                <a:latin typeface="Calibri"/>
              </a:rPr>
              <a:t>$0.030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Both runs used the same input CSV, same prompt, same scoring code.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Cost for 43 records:  GPT-3.5 ≈ $0.04  ·  GPT-4.1 ≈ $0.70.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GPT-4.1 latency 36.8 s end-to-end (sequential calls); GPT-3.5: 27.4 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6 /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Headline: GPT-4.1 nearly doubles F1</a:t>
            </a:r>
          </a:p>
        </p:txBody>
      </p:sp>
      <p:pic>
        <p:nvPicPr>
          <p:cNvPr id="5" name="Picture 4" descr="metric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828800"/>
            <a:ext cx="9601200" cy="47493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Confusion matrices side by side</a:t>
            </a:r>
          </a:p>
        </p:txBody>
      </p:sp>
      <p:pic>
        <p:nvPicPr>
          <p:cNvPr id="5" name="Picture 4" descr="confusion_gpt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029200" cy="3997701"/>
          </a:xfrm>
          <a:prstGeom prst="rect">
            <a:avLst/>
          </a:prstGeom>
        </p:spPr>
      </p:pic>
      <p:pic>
        <p:nvPicPr>
          <p:cNvPr id="6" name="Picture 5" descr="confusion_gpt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39977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7D7975"/>
                </a:solidFill>
                <a:latin typeface="Calibri"/>
              </a:rPr>
              <a:t>accuracy 0.70 · recall 0.44 · F1 0.38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486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7D7975"/>
                </a:solidFill>
                <a:latin typeface="Calibri"/>
              </a:rPr>
              <a:t>accuracy 0.88 · recall 0.67 · F1 0.71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1F6D76"/>
                </a:solidFill>
                <a:latin typeface="Calibri"/>
              </a:rPr>
              <a:t>• </a:t>
            </a:r>
            <a:r>
              <a:rPr sz="1300">
                <a:solidFill>
                  <a:srgbClr val="1A1A1F"/>
                </a:solidFill>
                <a:latin typeface="Calibri"/>
              </a:rPr>
              <a:t>GPT-4.1 caught 6 of 9 true includes (vs. 4/9 for 3.5).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1F6D76"/>
                </a:solidFill>
                <a:latin typeface="Calibri"/>
              </a:rPr>
              <a:t>• </a:t>
            </a:r>
            <a:r>
              <a:rPr sz="1300">
                <a:solidFill>
                  <a:srgbClr val="1A1A1F"/>
                </a:solidFill>
                <a:latin typeface="Calibri"/>
              </a:rPr>
              <a:t>GPT-4.1's false-positive rate dropped from 8 →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8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How does this compare to the literature?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1F"/>
                </a:solidFill>
                <a:latin typeface="Cambria"/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828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1F"/>
                </a:solidFill>
                <a:latin typeface="Cambria"/>
              </a:rPr>
              <a:t>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28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1F"/>
                </a:solidFill>
                <a:latin typeface="Cambria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10972800" cy="9525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Cochrane manual (gold)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423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1.00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231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two human reviewers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Waterloo CAL (CLEF 2018)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926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≈ 0.95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926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active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Sheffield BMI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429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≈ 0.85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4290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BM25 + relevance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85A3F"/>
                </a:solidFill>
                <a:latin typeface="Calibri"/>
              </a:rPr>
              <a:t>ReviewPyperAPI / GPT-4.1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9319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85A3F"/>
                </a:solidFill>
                <a:latin typeface="Calibri"/>
              </a:rPr>
              <a:t>0.67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9319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85A3F"/>
                </a:solidFill>
                <a:latin typeface="Calibri"/>
              </a:rPr>
              <a:t>this work, single topic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Random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434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≈ 0.21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4348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= prevalence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6D76"/>
                </a:solidFill>
                <a:latin typeface="Calibri"/>
              </a:rPr>
              <a:t>• </a:t>
            </a:r>
            <a:r>
              <a:rPr sz="1400">
                <a:solidFill>
                  <a:srgbClr val="1A1A1F"/>
                </a:solidFill>
                <a:latin typeface="Calibri"/>
              </a:rPr>
              <a:t>Above random by ~3× — meaningful signal, but far from production.</a:t>
            </a:r>
          </a:p>
          <a:p>
            <a:pPr>
              <a:lnSpc>
                <a:spcPct val="125000"/>
              </a:lnSpc>
            </a:pPr>
            <a:r>
              <a:rPr sz="1400" b="1">
                <a:solidFill>
                  <a:srgbClr val="1F6D76"/>
                </a:solidFill>
                <a:latin typeface="Calibri"/>
              </a:rPr>
              <a:t>• </a:t>
            </a:r>
            <a:r>
              <a:rPr sz="1400">
                <a:solidFill>
                  <a:srgbClr val="1A1A1F"/>
                </a:solidFill>
                <a:latin typeface="Calibri"/>
              </a:rPr>
              <a:t>Recall &lt; 0.95 is unacceptable for a published Cochrane review.</a:t>
            </a:r>
          </a:p>
          <a:p>
            <a:pPr>
              <a:lnSpc>
                <a:spcPct val="125000"/>
              </a:lnSpc>
            </a:pPr>
            <a:r>
              <a:rPr sz="1400" b="1">
                <a:solidFill>
                  <a:srgbClr val="1F6D76"/>
                </a:solidFill>
                <a:latin typeface="Calibri"/>
              </a:rPr>
              <a:t>• </a:t>
            </a:r>
            <a:r>
              <a:rPr sz="1400">
                <a:solidFill>
                  <a:srgbClr val="1A1A1F"/>
                </a:solidFill>
                <a:latin typeface="Calibri"/>
              </a:rPr>
              <a:t>Precision 0.75 means humans only have to re-check 8 of 43 papers.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9 / 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What did the model miss?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F"/>
                </a:solidFill>
                <a:latin typeface="Cambria"/>
              </a:rPr>
              <a:t>GPT-4.1 produced 3 false negatives. Reviewing the missed papers: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6D76"/>
                </a:solidFill>
                <a:latin typeface="Calibri"/>
              </a:rPr>
              <a:t>• </a:t>
            </a:r>
            <a:r>
              <a:rPr sz="1400">
                <a:solidFill>
                  <a:srgbClr val="1A1A1F"/>
                </a:solidFill>
                <a:latin typeface="Calibri"/>
              </a:rPr>
              <a:t>Two papers had abstracts in non-English / mixed Spanish — model defaulted to “Exclude.”</a:t>
            </a:r>
          </a:p>
          <a:p>
            <a:pPr>
              <a:lnSpc>
                <a:spcPct val="125000"/>
              </a:lnSpc>
            </a:pPr>
            <a:r>
              <a:rPr sz="1400" b="1">
                <a:solidFill>
                  <a:srgbClr val="1F6D76"/>
                </a:solidFill>
                <a:latin typeface="Calibri"/>
              </a:rPr>
              <a:t>• </a:t>
            </a:r>
            <a:r>
              <a:rPr sz="1400">
                <a:solidFill>
                  <a:srgbClr val="1A1A1F"/>
                </a:solidFill>
                <a:latin typeface="Calibri"/>
              </a:rPr>
              <a:t>One was a sub-population analysis with NIPPV implicit but not in the title.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F"/>
                </a:solidFill>
                <a:latin typeface="Cambria"/>
              </a:rPr>
              <a:t>GPT-4.1 produced 2 false positives: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6D76"/>
                </a:solidFill>
                <a:latin typeface="Calibri"/>
              </a:rPr>
              <a:t>• </a:t>
            </a:r>
            <a:r>
              <a:rPr sz="1400">
                <a:solidFill>
                  <a:srgbClr val="1A1A1F"/>
                </a:solidFill>
                <a:latin typeface="Calibri"/>
              </a:rPr>
              <a:t>Both examined CPAP after thoracoscopic surgery, not resection.</a:t>
            </a:r>
          </a:p>
          <a:p>
            <a:pPr>
              <a:lnSpc>
                <a:spcPct val="125000"/>
              </a:lnSpc>
            </a:pPr>
            <a:r>
              <a:rPr sz="1400" b="1">
                <a:solidFill>
                  <a:srgbClr val="1F6D76"/>
                </a:solidFill>
                <a:latin typeface="Calibri"/>
              </a:rPr>
              <a:t>• </a:t>
            </a:r>
            <a:r>
              <a:rPr sz="1400">
                <a:solidFill>
                  <a:srgbClr val="1A1A1F"/>
                </a:solidFill>
                <a:latin typeface="Calibri"/>
              </a:rPr>
              <a:t>Reasonable mistake — classification fits the broader question.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solidFill>
            <a:srgbClr val="FBE9C8"/>
          </a:solidFill>
          <a:ln w="9525">
            <a:solidFill>
              <a:srgbClr val="A85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650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85A3F"/>
                </a:solidFill>
                <a:latin typeface="Cambria"/>
              </a:rPr>
              <a:t>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080760"/>
            <a:ext cx="105156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Prompt engineering + multi-language handling could close most of the recall gap.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10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Single topic, n = 43. Statistical power to compare to literature is weak.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Binary scoring only. ReviewPyper's title screener returns 0/1, no confidence — WSS@95 collapses to a coarse approximation.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No prompt tuning. Both models used the default ReviewPyper prompt; published systems use heavy prompt engineering.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One-shot screening only. No active-learning loop, no human-in-the-loop refinement.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No abstract-level screening evaluated (Step 3 in our pipeline). This is title-only.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1.  </a:t>
            </a:r>
            <a:r>
              <a:rPr sz="1500">
                <a:solidFill>
                  <a:srgbClr val="1A1A1F"/>
                </a:solidFill>
                <a:latin typeface="Calibri"/>
              </a:rPr>
              <a:t>Extend to 5 more CLEF-TAR topics (CD012164, CD008760, CD011380, CD010705, plus one large) — total cost &lt; $10.</a:t>
            </a: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2.  </a:t>
            </a:r>
            <a:r>
              <a:rPr sz="1500">
                <a:solidFill>
                  <a:srgbClr val="1A1A1F"/>
                </a:solidFill>
                <a:latin typeface="Calibri"/>
              </a:rPr>
              <a:t>Add continuous scoring (logit / probability) to ReviewPyper for proper WSS@95.</a:t>
            </a: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3.  </a:t>
            </a:r>
            <a:r>
              <a:rPr sz="1500">
                <a:solidFill>
                  <a:srgbClr val="1A1A1F"/>
                </a:solidFill>
                <a:latin typeface="Calibri"/>
              </a:rPr>
              <a:t>Compare GPT-4.1 vs Claude-Sonnet via the provider-switcher patch.</a:t>
            </a: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4.  </a:t>
            </a:r>
            <a:r>
              <a:rPr sz="1500">
                <a:solidFill>
                  <a:srgbClr val="1A1A1F"/>
                </a:solidFill>
                <a:latin typeface="Calibri"/>
              </a:rPr>
              <a:t>Implement abstract-level screening validation (CLEF-TAR Task 1).</a:t>
            </a: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5.  </a:t>
            </a:r>
            <a:r>
              <a:rPr sz="1500">
                <a:solidFill>
                  <a:srgbClr val="1A1A1F"/>
                </a:solidFill>
                <a:latin typeface="Calibri"/>
              </a:rPr>
              <a:t>Build a prompt-tuning loop grounded in the false-negative analysis above.</a:t>
            </a: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6.  </a:t>
            </a:r>
            <a:r>
              <a:rPr sz="1500">
                <a:solidFill>
                  <a:srgbClr val="1A1A1F"/>
                </a:solidFill>
                <a:latin typeface="Calibri"/>
              </a:rPr>
              <a:t>Publish the wrapper: validation/run_validation.py works for any CLEF-TAR topic 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7975"/>
                </a:solidFill>
                <a:latin typeface="Consola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F"/>
                </a:solidFill>
                <a:latin typeface="Cambria"/>
              </a:rPr>
              <a:t>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solidFill>
            <a:srgbClr val="CFE1E3"/>
          </a:solidFill>
          <a:ln w="9525">
            <a:solidFill>
              <a:srgbClr val="1F6D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D76"/>
                </a:solidFill>
                <a:latin typeface="Cambria"/>
              </a:rPr>
              <a:t>Three-line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F"/>
                </a:solidFill>
                <a:latin typeface="Calibri"/>
              </a:rPr>
              <a:t>ReviewPyperAPI screens reasonably with GPT-4.1 (F1 0.71, accuracy 0.88) but misses too many true includes (recall 0.67) for use without a human-in-the-loop. With prompt tuning + multi-topic evaluation we can probably reach the 0.85–0.95 band the literature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Validation harness (validation/) works end-to-end against the live app.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Re-running for any new CLEF-TAR topic is now a one-line command.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F6D76"/>
                </a:solidFill>
                <a:latin typeface="Calibri"/>
              </a:rPr>
              <a:t>• </a:t>
            </a:r>
            <a:r>
              <a:rPr sz="1500">
                <a:solidFill>
                  <a:srgbClr val="1A1A1F"/>
                </a:solidFill>
                <a:latin typeface="Calibri"/>
              </a:rPr>
              <a:t>Code:  validation/run_validation.py  ·  validation/orchestrate.py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13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7975"/>
                </a:solidFill>
                <a:latin typeface="Consolas"/>
              </a:rPr>
              <a:t>ReviewPyperAPI ·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